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99" r:id="rId3"/>
    <p:sldId id="303" r:id="rId4"/>
    <p:sldId id="297" r:id="rId5"/>
    <p:sldId id="301" r:id="rId6"/>
    <p:sldId id="313" r:id="rId7"/>
    <p:sldId id="307" r:id="rId8"/>
    <p:sldId id="309" r:id="rId9"/>
    <p:sldId id="311" r:id="rId10"/>
    <p:sldId id="31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3F"/>
    <a:srgbClr val="3A4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C2EF1D-FAAE-4F81-9E89-E32491773C63}">
  <a:tblStyle styleId="{E5C2EF1D-FAAE-4F81-9E89-E32491773C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757F8025-F061-5BC0-EB6E-D5544FD9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47486B5F-BA2C-21A1-ED5F-084CC1C1F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4C31F00D-B646-3CAC-944A-5EFCF1554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8060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884F169D-5BFE-640B-1811-2BC1DD82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597E3354-3825-CE15-125E-F38604A2B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DAE6FE99-1936-007C-564C-7973F8E7A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968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BBBF3D0B-3455-17F1-7C87-5CFB5632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9FFB2AEB-8E78-2EBB-B923-34EA53B6C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0AB9A866-4FEA-1CB8-9E07-DB24CBC66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504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E45BABE-B79E-38B7-7CD7-9BCBAB7E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529E985-F573-87F0-F4C9-8A0E06F3E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AE3692AE-D369-AFF3-9569-741602825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401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F278F414-4BE6-B1B7-A02F-B281ACEC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5CFF97E1-FAD7-A458-144B-95708665A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0A316058-D9CD-29A3-865E-5317E9AE4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3648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E179A55E-5486-C769-B7E7-7E2D56A0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C8DF0CE8-5543-C0E6-0086-5C22292D9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DE752F0B-EA7D-27B7-38E8-5E1504BD4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171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B9C6297-19C8-E4CF-69F3-EA7CCCCA4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F6ECAF2F-E099-D864-EE36-AA24CE05F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A99FA170-0E66-10F8-37DE-4AE8211BC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9505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9375F58-0FE5-38AF-4859-51F083CC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66E9D71D-4770-C716-E8E5-4ED6952E2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2E69BAF6-9C41-5677-F891-92A6600FD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716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DFE2FDF4-4D8E-D1BD-E521-7ACDD348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0F479114-7A79-B4F0-DA5A-23558390D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A820E122-F2DF-DDE0-A07C-08112CBDF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1210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9601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199" y="227013"/>
            <a:ext cx="112680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126807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643437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9591674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199" y="274638"/>
            <a:ext cx="112775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1277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601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cds.climate.copernicus.eu/datasets/derived-era5-single-levels-daily-statistics?tab=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ds.climate.copernicus.eu/datasets/reanalysis-era5-single-levels-monthly-means?tab=download" TargetMode="External"/><Relationship Id="rId5" Type="http://schemas.openxmlformats.org/officeDocument/2006/relationships/hyperlink" Target="https://psl.noaa.gov/data/gridded/data.godas.html" TargetMode="External"/><Relationship Id="rId4" Type="http://schemas.openxmlformats.org/officeDocument/2006/relationships/hyperlink" Target="https://cds.climate.copernicus.eu/datasets/reanalysis-oras5?tab=overvie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0" y="2142232"/>
            <a:ext cx="762000" cy="47625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761672" y="2475607"/>
            <a:ext cx="6668656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ENSO Forecast NEW</a:t>
            </a:r>
            <a:endParaRPr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EF4E245-12EA-44DE-B3B9-5766F069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69749F39-EBF7-27BB-4EEE-1E376FF6125F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91DBF682-256E-21EB-3A7F-F627BF442EB7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CMIP6 (ssp370)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BCE37C4-FCC6-A921-F738-2796A050E3B6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6C78F-F851-53D6-F317-FCAEFF5C6F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86D0EAF-5905-ABCB-DC91-953C17AD6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89099"/>
              </p:ext>
            </p:extLst>
          </p:nvPr>
        </p:nvGraphicFramePr>
        <p:xfrm>
          <a:off x="571502" y="1297542"/>
          <a:ext cx="11048994" cy="243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01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ACCESS-CM2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93725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  <a:endParaRPr lang="en-US" altLang="ko-KR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04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CMCC-ESM2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Italy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27244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EC-Earth3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European countries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2789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06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IPSL-CM5A2-INCA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252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08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MIROC6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123981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23EE48B-8749-0496-27EB-2578CBD5F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02123"/>
              </p:ext>
            </p:extLst>
          </p:nvPr>
        </p:nvGraphicFramePr>
        <p:xfrm>
          <a:off x="571502" y="3951506"/>
          <a:ext cx="1104899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03F2A5-6CEA-C85B-06C4-29BFD0471FCB}"/>
              </a:ext>
            </a:extLst>
          </p:cNvPr>
          <p:cNvSpPr txBox="1"/>
          <p:nvPr/>
        </p:nvSpPr>
        <p:spPr>
          <a:xfrm>
            <a:off x="571496" y="1082098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r1i1p1f1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B3AB9-7363-24B3-B81D-C34F61EAAD18}"/>
              </a:ext>
            </a:extLst>
          </p:cNvPr>
          <p:cNvSpPr txBox="1"/>
          <p:nvPr/>
        </p:nvSpPr>
        <p:spPr>
          <a:xfrm>
            <a:off x="571496" y="3735942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r2i1p1f1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E4601E-89B4-DDEF-067C-E48400EA2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02123"/>
              </p:ext>
            </p:extLst>
          </p:nvPr>
        </p:nvGraphicFramePr>
        <p:xfrm>
          <a:off x="571502" y="5386270"/>
          <a:ext cx="1104899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3AB0E3-CAC2-2596-C0E0-875BFE6DBFA2}"/>
              </a:ext>
            </a:extLst>
          </p:cNvPr>
          <p:cNvSpPr txBox="1"/>
          <p:nvPr/>
        </p:nvSpPr>
        <p:spPr>
          <a:xfrm>
            <a:off x="571496" y="5170706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r3i1p1f1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663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7DBBF19-8DAF-F916-B014-B109BEE0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17ADE369-E7B2-9D2E-8955-E62EDB393D4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48D15AA8-C761-FCB0-B358-A80894A56568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Reanalysis Data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CB4AED6C-F639-C010-56A9-DDC4FC177759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1A5D5-D8AA-A331-99DA-FD9DAEACE1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A825E11-FB85-CF2A-7E3A-A96436B0E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40925"/>
              </p:ext>
            </p:extLst>
          </p:nvPr>
        </p:nvGraphicFramePr>
        <p:xfrm>
          <a:off x="571500" y="1210702"/>
          <a:ext cx="11048996" cy="103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80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80">
                  <a:extLst>
                    <a:ext uri="{9D8B030D-6E8A-4147-A177-3AD203B41FA5}">
                      <a16:colId xmlns:a16="http://schemas.microsoft.com/office/drawing/2014/main" val="1112496595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01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ORAS5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ECMWF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937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GODAS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NOAA / NCEP</a:t>
                      </a:r>
                      <a:endParaRPr lang="ko-KR" altLang="en-US" sz="11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ERA5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ECMWF</a:t>
                      </a:r>
                      <a:endParaRPr lang="ko-KR" altLang="en-US" sz="11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C7073E-D106-C338-EE15-502FCAC0ABDF}"/>
              </a:ext>
            </a:extLst>
          </p:cNvPr>
          <p:cNvSpPr txBox="1"/>
          <p:nvPr/>
        </p:nvSpPr>
        <p:spPr>
          <a:xfrm>
            <a:off x="571500" y="2247022"/>
            <a:ext cx="11049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ORAS5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4"/>
              </a:rPr>
              <a:t>https://cds.climate.copernicus.eu/datasets/reanalysis-oras5?tab=overview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5"/>
              </a:rPr>
              <a:t>https://psl.noaa.gov/data/gridded/data.godas.html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ERA5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6"/>
              </a:rPr>
              <a:t>https://cds.climate.copernicus.eu/datasets/reanalysis-era5-single-levels-monthly-means?tab=download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7"/>
              </a:rPr>
              <a:t>https://cds.climate.copernicus.eu/datasets/derived-era5-single-levels-daily-statistics?tab=download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 변수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SST, HC, MLD, SSS, SLP, UO, VO, U10, V10 + U10(daily)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/>
              <a:t>CMIP6 SSP370(2015–2100) </a:t>
            </a:r>
            <a:r>
              <a:rPr lang="ko-KR" altLang="en-US" sz="1200" dirty="0"/>
              <a:t>학습</a:t>
            </a:r>
            <a:r>
              <a:rPr lang="en-US" altLang="ko-KR" sz="1200" dirty="0"/>
              <a:t>, ORAS5+ERA5(1958–1978) </a:t>
            </a:r>
            <a:r>
              <a:rPr lang="ko-KR" altLang="en-US" sz="1200" dirty="0"/>
              <a:t>검증</a:t>
            </a:r>
            <a:r>
              <a:rPr lang="en-US" altLang="ko-KR" sz="1200" dirty="0"/>
              <a:t>, GODAS+ERA5(1980–2021) </a:t>
            </a:r>
            <a:r>
              <a:rPr lang="ko-KR" altLang="en-US" sz="1200" dirty="0"/>
              <a:t>테스트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587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F8CF934-F011-7A1C-CABB-1B5F480E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EB8A24A9-8586-314A-466B-EBC58795854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888C6658-BDC8-5847-D82B-E4AC9DFF99BA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[CMIP6] http </a:t>
            </a: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Wingdings" panose="05000000000000000000" pitchFamily="2" charset="2"/>
              </a:rPr>
              <a:t> https </a:t>
            </a: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521BBC30-6D33-DC07-6100-9BF78277DBE5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9C573-EEC6-4917-752F-824DD375B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97281-AA24-B4F5-09CE-5EB00FD742AA}"/>
              </a:ext>
            </a:extLst>
          </p:cNvPr>
          <p:cNvSpPr txBox="1"/>
          <p:nvPr/>
        </p:nvSpPr>
        <p:spPr>
          <a:xfrm>
            <a:off x="571500" y="1210702"/>
            <a:ext cx="11049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cd /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mnt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/c/Users/SANGGYU/Downloads</a:t>
            </a: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파일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라인에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있는지 먼저 확인</a:t>
            </a: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grep -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'http://esgf-node\.ornl\.gov/thredds/fileServer' *.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파일별로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bak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백업을 만들고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경로만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치환</a:t>
            </a: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sed -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i.bak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s|http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://esgf-node\.ornl\.gov/thredds/fileServer|https://esgf-node.ornl.gov/thredds/fileServer|g' *.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치환 결과 확인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이상 나오면 안 됨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grep -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'http://esgf-node\.ornl\.gov/thredds/fileServer' *.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|| echo "OK (no http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fileServer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left)"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989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4BC88F51-58B6-AD8F-328C-89B70660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3B0CC84E-E340-E00E-F367-61901258C33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387C8725-F477-0EA8-BC22-7B3135B39310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표층장</a:t>
            </a:r>
            <a:r>
              <a:rPr lang="ko-KR" alt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자료 생산 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/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/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/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vos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)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F4F8456-2A67-7E4A-75AC-D2272C59FC0C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9E597-EB38-982B-C8A8-24DCB039A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634C5-78F0-3A80-923B-2CB2763E8FF2}"/>
              </a:ext>
            </a:extLst>
          </p:cNvPr>
          <p:cNvSpPr txBox="1"/>
          <p:nvPr/>
        </p:nvSpPr>
        <p:spPr>
          <a:xfrm>
            <a:off x="571500" y="1210702"/>
            <a:ext cx="11049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CMIP6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표층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level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파일명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변수명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변경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thetao→tos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uo→uos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vo→vos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표층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level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&amp;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수직 차원 제거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파일명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변수명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변경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pottmp→tos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salt→sos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ucur→uos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vcur→vos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salt[kg/kg] → x1000 →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[g/kg]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적용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ORAS5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표층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level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merge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time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수직 차원 제거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파일명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변수명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변경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vozocrtx→uos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vomecrty→vos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EF6F1-3254-C9A6-EE95-248BCDF191CF}"/>
              </a:ext>
            </a:extLst>
          </p:cNvPr>
          <p:cNvSpPr txBox="1"/>
          <p:nvPr/>
        </p:nvSpPr>
        <p:spPr>
          <a:xfrm>
            <a:off x="5369501" y="1210702"/>
            <a:ext cx="42221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make_surface_fields.py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전체 실행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all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cmip6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GODAS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ORAS5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oras5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덮어쓰기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all --overwrite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358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6C82595-E7A4-5A7A-0E1D-59BDC8A1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278C9F8D-8113-3FF8-F133-01FD6CF1306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E8B6D6-643B-E19B-954E-2F0B04CB61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1568B-4B9A-16CA-6875-8A57CA9F07DC}"/>
              </a:ext>
            </a:extLst>
          </p:cNvPr>
          <p:cNvSpPr txBox="1"/>
          <p:nvPr/>
        </p:nvSpPr>
        <p:spPr>
          <a:xfrm>
            <a:off x="275721" y="61014"/>
            <a:ext cx="41690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download_era5.py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monthly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monthly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daily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daily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둘 다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all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기간 지정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all --start-year 1958 --end-year 2025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월만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daily --months 1 2 3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daily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 여러 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daily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--daily-vars 10m_u_component_of_wind 10m_v_component_of_wind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5097E-4531-8A5A-E5F9-ABE912F979C4}"/>
              </a:ext>
            </a:extLst>
          </p:cNvPr>
          <p:cNvSpPr txBox="1"/>
          <p:nvPr/>
        </p:nvSpPr>
        <p:spPr>
          <a:xfrm>
            <a:off x="4444791" y="61014"/>
            <a:ext cx="422217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download_oras5.py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2D + 3D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모두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2D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--kind 2d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3D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--kind 3d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변수만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--variables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sea_surface_temperature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zonal_velocity</a:t>
            </a:r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연도 범위 지정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--kind all --start-year 1958 --end-year 1978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A52B5-0ADD-5FC6-A887-BA090F9C6184}"/>
              </a:ext>
            </a:extLst>
          </p:cNvPr>
          <p:cNvSpPr txBox="1"/>
          <p:nvPr/>
        </p:nvSpPr>
        <p:spPr>
          <a:xfrm>
            <a:off x="4444790" y="3011334"/>
            <a:ext cx="42221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make_ohc300.py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batch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make_ohc300_merged.py cmip6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inroot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/home/sanggyu1008/project/01_ENSO/01_data/01_raw/cmip6/ssp370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--outroot /home/sanggyu1008/project/01_ENSO/01_data/02_interim/cmip6/ssp370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zmax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300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--rho0 1025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--cp0 3992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--to-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degC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--time-chunk 12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--mask-shallow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GODAS single file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make_ohc300_merged.py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--base-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dir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mnt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/d/project/01_ENSO/01_data/01_raw/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zmax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300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--rho0 1025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--cp0 3992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--time-chunk 12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--overwrite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8DFE8-812C-0484-18F0-013E39B5F910}"/>
              </a:ext>
            </a:extLst>
          </p:cNvPr>
          <p:cNvSpPr txBox="1"/>
          <p:nvPr/>
        </p:nvSpPr>
        <p:spPr>
          <a:xfrm>
            <a:off x="8666964" y="61014"/>
            <a:ext cx="2900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qc.py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 basic QC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era5 --check basic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GODAS basic + mask QC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--check all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ORAS5 mask QC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실행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oras5 --check mask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basic QC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cmip6 --check basic /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mnt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/d/project/01_ENSO/01_data/01_raw/cmip6</a:t>
            </a:r>
          </a:p>
        </p:txBody>
      </p:sp>
    </p:spTree>
    <p:extLst>
      <p:ext uri="{BB962C8B-B14F-4D97-AF65-F5344CB8AC3E}">
        <p14:creationId xmlns:p14="http://schemas.microsoft.com/office/powerpoint/2010/main" val="230155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D866474F-303B-07AF-D9D3-4CC78821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DB826A38-0828-971E-BC7B-D9EF051F0CC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0B9C0FA8-A072-9A83-9FFC-2609B27C333E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Anomaly </a:t>
            </a:r>
            <a:r>
              <a:rPr lang="ko-KR" alt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계산 </a:t>
            </a:r>
            <a:r>
              <a:rPr lang="en-US" altLang="ko-KR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 </a:t>
            </a:r>
            <a:r>
              <a:rPr lang="ko-KR" alt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재격자화</a:t>
            </a: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D13CC0F4-12F4-FFA1-A20D-FE974EF5482B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FEB2F-9829-7771-A1AA-B1474430C3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2CFBB-4C45-9585-A72D-DF229F71DD26}"/>
              </a:ext>
            </a:extLst>
          </p:cNvPr>
          <p:cNvSpPr txBox="1"/>
          <p:nvPr/>
        </p:nvSpPr>
        <p:spPr>
          <a:xfrm>
            <a:off x="571498" y="1210702"/>
            <a:ext cx="57738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Monthly</a:t>
            </a: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장기 추세 제거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Climatology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제거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재격자화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cmip6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era5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oras5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변수만 돌릴 때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cmip6 --vars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vos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--vars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mlotst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ohc300 --overwrite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24D78E-F4DA-CE33-DEA3-B326D1F35898}"/>
              </a:ext>
            </a:extLst>
          </p:cNvPr>
          <p:cNvSpPr txBox="1"/>
          <p:nvPr/>
        </p:nvSpPr>
        <p:spPr>
          <a:xfrm>
            <a:off x="6622475" y="1210702"/>
            <a:ext cx="49980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Daily U10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monthly max 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monmax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linear detrend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monthly climatology of monthly-max series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anomaly 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ymonsub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remap to 1x2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explicit finite _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FillValue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era5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덮어쓰기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era5 --overwrite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중간 파일도 보관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era5 --keep-intermediate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전체 처리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cmip6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모델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멤버만 처리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cmip6 \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--model ACCESS-CM2 CanESM5 \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--member r1i1p1f1 \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--overwrite</a:t>
            </a:r>
            <a:endParaRPr lang="ko-KR" altLang="en-US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005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8A331AF0-9370-1D85-C1D7-FB9790D24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741C7702-7A60-3E7A-B047-2C624B2BD89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2072E083-9083-1369-7585-F50FBD858BA0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make_input.py &amp; make_target</a:t>
            </a: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.py</a:t>
            </a: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C9757FD2-DBC7-0D50-7A45-7F8815D33C82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AFBA6A-E229-1EC7-E7CF-665278364B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E4728-3518-DA77-FE16-93D7B7552CB0}"/>
              </a:ext>
            </a:extLst>
          </p:cNvPr>
          <p:cNvSpPr txBox="1"/>
          <p:nvPr/>
        </p:nvSpPr>
        <p:spPr>
          <a:xfrm>
            <a:off x="571500" y="1210702"/>
            <a:ext cx="11049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make_input.py  --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inroot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/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mnt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/d/project/01_ENSO/01_data/02_interim  --outroot /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mnt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/d/project/01_ENSO/01_data/03_input  --mode all  --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fillna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none</a:t>
            </a: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CMIP6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파일명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input_&lt;model&gt;_&lt;experiment&gt;_&lt;member&gt;.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nc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Reanalysis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파일명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validation_dataset.nc / test_dataset.nc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validation_dataset.nc (1958.01 ~ 1976.12) / test_dataset.nc (1980.01 ~ 2025.12)</a:t>
            </a: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make_target.py</a:t>
            </a: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Niño3.4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영역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5S-5N, 170W-120W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validation target (1958.01 ~ 1978.12)</a:t>
            </a:r>
            <a:endParaRPr lang="ko-KR" alt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730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E268E12-449C-B1CB-7FF4-52C7D861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68DEC6B1-5957-8C03-0813-B08F403281B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551A809B-16C4-A5F2-6EF1-A6594CC38C34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BASELINE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6A27D597-195D-0E67-8C84-D87A547C3D18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6B8334-3082-3E78-F037-7D67A722F8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47A81D-2B60-0589-5ADB-464D12C953D5}"/>
              </a:ext>
            </a:extLst>
          </p:cNvPr>
          <p:cNvSpPr txBox="1"/>
          <p:nvPr/>
        </p:nvSpPr>
        <p:spPr>
          <a:xfrm>
            <a:off x="571500" y="1210702"/>
            <a:ext cx="11049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train_model.py --config configs/cnn_baseline_v1.yaml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configs/cnn_baseline_v1.yaml --split validation --checkpoint best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configs/cnn_baseline_v1.yaml --split test --checkpoint best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train_model.py --config configs/transformer_baseline_v1.yaml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configs/transformer_baseline_v1.yaml --split validation --checkpoint best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configs/transformer_baseline_v1.yaml --split test --checkpoint best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configs/cnn_baseline_v1.yaml --split validation</a:t>
            </a:r>
            <a:endParaRPr lang="ko-KR" alt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configs/cnn_baseline_v1.yaml --split test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configs/transformer_baseline_v1.yaml --split validation</a:t>
            </a:r>
            <a:endParaRPr lang="ko-KR" alt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configs/transformer_baseline_v1.yaml --split test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configs/hybrid_v4b.yaml --split validation --checkpoint best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configs/hybrid_v4b.yaml --split validation</a:t>
            </a:r>
            <a:endParaRPr lang="ko-KR" alt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15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949D7B52-F91B-D0DC-BE46-9529E497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089B15EC-47D4-88B4-3787-1F9CE1F911D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5B8A99EA-A6DC-9662-2123-00FD2B55198D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Sample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242F695A-E3C5-C5DE-89C4-4BC694DE68E2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E2D793-40A6-8285-2694-E11E6CE05D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D0DE0-7FFE-E7B4-BA8D-3C47478C1739}"/>
              </a:ext>
            </a:extLst>
          </p:cNvPr>
          <p:cNvSpPr txBox="1"/>
          <p:nvPr/>
        </p:nvSpPr>
        <p:spPr>
          <a:xfrm>
            <a:off x="571500" y="1210702"/>
            <a:ext cx="1104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ㅇㅇ</a:t>
            </a:r>
            <a:endParaRPr lang="en-US" altLang="ko-KR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3320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35530</TotalTime>
  <Words>1786</Words>
  <Application>Microsoft Office PowerPoint</Application>
  <PresentationFormat>와이드스크린</PresentationFormat>
  <Paragraphs>483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Pretendard</vt:lpstr>
      <vt:lpstr>Pretendard ExtraBold</vt:lpstr>
      <vt:lpstr>Pretendard 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SANGGYU</dc:creator>
  <cp:lastModifiedBy>전상규</cp:lastModifiedBy>
  <cp:revision>162</cp:revision>
  <dcterms:modified xsi:type="dcterms:W3CDTF">2026-03-26T06:35:12Z</dcterms:modified>
</cp:coreProperties>
</file>