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13"/>
  </p:notesMasterIdLst>
  <p:sldIdLst>
    <p:sldId id="256" r:id="rId2"/>
    <p:sldId id="299" r:id="rId3"/>
    <p:sldId id="303" r:id="rId4"/>
    <p:sldId id="297" r:id="rId5"/>
    <p:sldId id="301" r:id="rId6"/>
    <p:sldId id="306" r:id="rId7"/>
    <p:sldId id="305" r:id="rId8"/>
    <p:sldId id="307" r:id="rId9"/>
    <p:sldId id="308" r:id="rId10"/>
    <p:sldId id="309" r:id="rId11"/>
    <p:sldId id="310" r:id="rId1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F3F"/>
    <a:srgbClr val="3A49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5C2EF1D-FAAE-4F81-9E89-E32491773C63}">
  <a:tblStyle styleId="{E5C2EF1D-FAAE-4F81-9E89-E32491773C63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424" autoAdjust="0"/>
  </p:normalViewPr>
  <p:slideViewPr>
    <p:cSldViewPr snapToGrid="0">
      <p:cViewPr>
        <p:scale>
          <a:sx n="100" d="100"/>
          <a:sy n="100" d="100"/>
        </p:scale>
        <p:origin x="990" y="18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757F8025-F061-5BC0-EB6E-D5544FD9C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47486B5F-BA2C-21A1-ED5F-084CC1C1F4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4C31F00D-B646-3CAC-944A-5EFCF15543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680601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884F169D-5BFE-640B-1811-2BC1DD82A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597E3354-3825-CE15-125E-F38604A2BD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DAE6FE99-1936-007C-564C-7973F8E7AF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29682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BBBF3D0B-3455-17F1-7C87-5CFB56322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9FFB2AEB-8E78-2EBB-B923-34EA53B6CE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0AB9A866-4FEA-1CB8-9E07-DB24CBC667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5042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9E45BABE-B79E-38B7-7CD7-9BCBAB7E4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3529E985-F573-87F0-F4C9-8A0E06F3E5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AE3692AE-D369-AFF3-9569-7416028257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74015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4DA4E559-543F-EF98-5F20-C20E06BAA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CF5077E7-74A1-AA55-4B65-3F86B9A633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676F414B-0531-DD16-B10F-A1D074147C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089683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E5208DAE-5D4A-5F1F-4F36-514A7BB66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D4048419-8C33-641A-A95F-2803CF9E39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34B3C8B0-764B-F646-B1DD-8C9DFFCAEC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673124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E179A55E-5486-C769-B7E7-7E2D56A04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C8DF0CE8-5543-C0E6-0086-5C22292D93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DE752F0B-EA7D-27B7-38E8-5E1504BD44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1717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C38574F5-5674-F2E1-3C59-1CFB79F5C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A4C76B1C-0D7C-B6A4-5CE4-CEDBDCFC09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85E0B6D0-1378-DB6C-71BE-2656F562C9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010624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1B9C6297-19C8-E4CF-69F3-EA7CCCCA4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F6ECAF2F-E099-D864-EE36-AA24CE05F7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A99FA170-0E66-10F8-37DE-4AE8211BCE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995056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A126CCA3-F64E-837E-E927-7F0893333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4DC08DEA-8500-49D1-7072-DACEEF0025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F249919F-4B93-6DFC-CC6C-902243D7F9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762189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4648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9601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199" y="227013"/>
            <a:ext cx="11268075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11268074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4643437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9591674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199" y="274638"/>
            <a:ext cx="1127759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11277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9601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hyperlink" Target="https://cds.climate.copernicus.eu/datasets/derived-era5-single-levels-daily-statistics?tab=download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ds.climate.copernicus.eu/datasets/reanalysis-era5-single-levels-monthly-means?tab=download" TargetMode="External"/><Relationship Id="rId5" Type="http://schemas.openxmlformats.org/officeDocument/2006/relationships/hyperlink" Target="https://psl.noaa.gov/data/gridded/data.godas.html" TargetMode="External"/><Relationship Id="rId4" Type="http://schemas.openxmlformats.org/officeDocument/2006/relationships/hyperlink" Target="https://cds.climate.copernicus.eu/datasets/reanalysis-oras5?tab=overview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/>
          <p:nvPr/>
        </p:nvSpPr>
        <p:spPr>
          <a:xfrm>
            <a:off x="5715000" y="2142232"/>
            <a:ext cx="762000" cy="47625"/>
          </a:xfrm>
          <a:prstGeom prst="rect">
            <a:avLst/>
          </a:prstGeom>
          <a:solidFill>
            <a:srgbClr val="0074D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2761672" y="2475607"/>
            <a:ext cx="6668656" cy="2659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0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ENSO Forecast NEW</a:t>
            </a:r>
            <a:endParaRPr sz="18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1EF4E245-12EA-44DE-B3B9-5766F0692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69749F39-EBF7-27BB-4EEE-1E376FF6125F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91DBF682-256E-21EB-3A7F-F627BF442EB7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CMIP6 (ssp370)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ABCE37C4-FCC6-A921-F738-2796A050E3B6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E6C78F-F851-53D6-F317-FCAEFF5C6F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86D0EAF-5905-ABCB-DC91-953C17AD6C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289099"/>
              </p:ext>
            </p:extLst>
          </p:nvPr>
        </p:nvGraphicFramePr>
        <p:xfrm>
          <a:off x="571502" y="1297542"/>
          <a:ext cx="11048994" cy="2438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10065">
                  <a:extLst>
                    <a:ext uri="{9D8B030D-6E8A-4147-A177-3AD203B41FA5}">
                      <a16:colId xmlns:a16="http://schemas.microsoft.com/office/drawing/2014/main" val="2736948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993970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196015322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599406598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9978605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412174571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9107433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359549352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667167224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3943714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70299339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24599805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Model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Country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psl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mon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(day)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vas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mlotst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sos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thetao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6552438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01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ACCESS-CM2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Australia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5093725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02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ACCESS-ESM1-5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Australia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290869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03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CanESM5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Canada </a:t>
                      </a:r>
                      <a:endParaRPr lang="en-US" altLang="ko-KR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100462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04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CMCC-ESM2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Italy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7272448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05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EC-Earth3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European countries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227892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06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IPSL-CM5A2-INCA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France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242526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07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IPSL-CM6A-LR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France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74641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08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MIROC6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Japan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4123981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09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MRI-ESM2-0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Japan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4241907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23EE48B-8749-0496-27EB-2578CBD5F2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6202123"/>
              </p:ext>
            </p:extLst>
          </p:nvPr>
        </p:nvGraphicFramePr>
        <p:xfrm>
          <a:off x="571502" y="3951506"/>
          <a:ext cx="11048994" cy="1219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10065">
                  <a:extLst>
                    <a:ext uri="{9D8B030D-6E8A-4147-A177-3AD203B41FA5}">
                      <a16:colId xmlns:a16="http://schemas.microsoft.com/office/drawing/2014/main" val="2736948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993970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196015322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599406598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9978605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412174571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9107433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359549352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667167224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3943714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70299339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24599805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Model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Country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psl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mon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(day)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vas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mlotst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sos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thetao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6552438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02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ACCESS-ESM1-5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Australia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highlight>
                            <a:srgbClr val="00FF00"/>
                          </a:highlight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290869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03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CanESM5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Canada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highlight>
                            <a:srgbClr val="00FF00"/>
                          </a:highlight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100462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07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IPSL-CM6A-LR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France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74641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09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MRI-ESM2-0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Japan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42419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103F2A5-6CEA-C85B-06C4-29BFD0471FCB}"/>
              </a:ext>
            </a:extLst>
          </p:cNvPr>
          <p:cNvSpPr txBox="1"/>
          <p:nvPr/>
        </p:nvSpPr>
        <p:spPr>
          <a:xfrm>
            <a:off x="571496" y="1082098"/>
            <a:ext cx="11049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r1i1p1f1</a:t>
            </a:r>
            <a:endParaRPr lang="ko-KR" alt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7B3AB9-7363-24B3-B81D-C34F61EAAD18}"/>
              </a:ext>
            </a:extLst>
          </p:cNvPr>
          <p:cNvSpPr txBox="1"/>
          <p:nvPr/>
        </p:nvSpPr>
        <p:spPr>
          <a:xfrm>
            <a:off x="571496" y="3735942"/>
            <a:ext cx="11049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r2i1p1f1</a:t>
            </a:r>
            <a:endParaRPr lang="ko-KR" alt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1E4601E-89B4-DDEF-067C-E48400EA2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6202123"/>
              </p:ext>
            </p:extLst>
          </p:nvPr>
        </p:nvGraphicFramePr>
        <p:xfrm>
          <a:off x="571502" y="5386270"/>
          <a:ext cx="11048994" cy="1219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10065">
                  <a:extLst>
                    <a:ext uri="{9D8B030D-6E8A-4147-A177-3AD203B41FA5}">
                      <a16:colId xmlns:a16="http://schemas.microsoft.com/office/drawing/2014/main" val="2736948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993970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196015322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599406598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9978605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412174571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9107433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359549352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667167224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3943714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70299339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24599805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Model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Country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psl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mon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(day)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vas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mlotst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sos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thetao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6552438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02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ACCESS-ESM1-5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Australia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highlight>
                            <a:srgbClr val="00FF00"/>
                          </a:highlight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290869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03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CanESM5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Canada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highlight>
                            <a:srgbClr val="00FF00"/>
                          </a:highlight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100462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07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IPSL-CM6A-LR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France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74641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09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MRI-ESM2-0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Japan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424190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23AB0E3-CAC2-2596-C0E0-875BFE6DBFA2}"/>
              </a:ext>
            </a:extLst>
          </p:cNvPr>
          <p:cNvSpPr txBox="1"/>
          <p:nvPr/>
        </p:nvSpPr>
        <p:spPr>
          <a:xfrm>
            <a:off x="571496" y="5170706"/>
            <a:ext cx="11049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r3i1p1f1</a:t>
            </a:r>
            <a:endParaRPr lang="ko-KR" alt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66326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67DBBF19-8DAF-F916-B014-B109BEE02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17ADE369-E7B2-9D2E-8955-E62EDB393D4B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48D15AA8-C761-FCB0-B358-A80894A56568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Reanalysis Data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CB4AED6C-F639-C010-56A9-DDC4FC177759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1A5D5-D8AA-A331-99DA-FD9DAEACE14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A825E11-FB85-CF2A-7E3A-A96436B0E4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040925"/>
              </p:ext>
            </p:extLst>
          </p:nvPr>
        </p:nvGraphicFramePr>
        <p:xfrm>
          <a:off x="571500" y="1210702"/>
          <a:ext cx="11048996" cy="10363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10065">
                  <a:extLst>
                    <a:ext uri="{9D8B030D-6E8A-4147-A177-3AD203B41FA5}">
                      <a16:colId xmlns:a16="http://schemas.microsoft.com/office/drawing/2014/main" val="273694872"/>
                    </a:ext>
                  </a:extLst>
                </a:gridCol>
                <a:gridCol w="1497080">
                  <a:extLst>
                    <a:ext uri="{9D8B030D-6E8A-4147-A177-3AD203B41FA5}">
                      <a16:colId xmlns:a16="http://schemas.microsoft.com/office/drawing/2014/main" val="99397072"/>
                    </a:ext>
                  </a:extLst>
                </a:gridCol>
                <a:gridCol w="1497080">
                  <a:extLst>
                    <a:ext uri="{9D8B030D-6E8A-4147-A177-3AD203B41FA5}">
                      <a16:colId xmlns:a16="http://schemas.microsoft.com/office/drawing/2014/main" val="1112496595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599406598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9978605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412174571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9107433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359549352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667167224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3943714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70299339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24599805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Model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Country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psl</a:t>
                      </a:r>
                      <a:endParaRPr lang="ko-KR" altLang="en-US" sz="11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1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altLang="ko-KR" sz="11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mon</a:t>
                      </a:r>
                      <a:r>
                        <a:rPr lang="en-US" altLang="ko-KR" sz="11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ko-KR" altLang="en-US" sz="11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1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(day)</a:t>
                      </a:r>
                      <a:endParaRPr lang="ko-KR" altLang="en-US" sz="11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vas</a:t>
                      </a:r>
                      <a:endParaRPr lang="ko-KR" altLang="en-US" sz="11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mlotst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sos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thetao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655243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01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ORAS5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ECMWF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509372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02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GODAS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NOAA / NCEP</a:t>
                      </a:r>
                      <a:endParaRPr lang="ko-KR" altLang="en-US" sz="11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290869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03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ERA5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ECMWF</a:t>
                      </a:r>
                      <a:endParaRPr lang="ko-KR" altLang="en-US" sz="11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100462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DC7073E-D106-C338-EE15-502FCAC0ABDF}"/>
              </a:ext>
            </a:extLst>
          </p:cNvPr>
          <p:cNvSpPr txBox="1"/>
          <p:nvPr/>
        </p:nvSpPr>
        <p:spPr>
          <a:xfrm>
            <a:off x="571500" y="2247022"/>
            <a:ext cx="1104900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ORAS5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  <a:hlinkClick r:id="rId4"/>
              </a:rPr>
              <a:t>https://cds.climate.copernicus.eu/datasets/reanalysis-oras5?tab=overview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GODAS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  <a:hlinkClick r:id="rId5"/>
              </a:rPr>
              <a:t>https://psl.noaa.gov/data/gridded/data.godas.html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ERA5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  <a:hlinkClick r:id="rId6"/>
              </a:rPr>
              <a:t>https://cds.climate.copernicus.eu/datasets/reanalysis-era5-single-levels-monthly-means?tab=download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  <a:hlinkClick r:id="rId7"/>
              </a:rPr>
              <a:t>https://cds.climate.copernicus.eu/datasets/derived-era5-single-levels-daily-statistics?tab=download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사용 변수 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SST, HC, MLD, SSS, SLP, UO, VO, U10, V10 + U10(daily)</a:t>
            </a:r>
          </a:p>
        </p:txBody>
      </p:sp>
    </p:spTree>
    <p:extLst>
      <p:ext uri="{BB962C8B-B14F-4D97-AF65-F5344CB8AC3E}">
        <p14:creationId xmlns:p14="http://schemas.microsoft.com/office/powerpoint/2010/main" val="3375873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6F8CF934-F011-7A1C-CABB-1B5F480EE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EB8A24A9-8586-314A-466B-EBC58795854D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888C6658-BDC8-5847-D82B-E4AC9DFF99BA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[CMIP6] http </a:t>
            </a:r>
            <a:r>
              <a:rPr 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Wingdings" panose="05000000000000000000" pitchFamily="2" charset="2"/>
              </a:rPr>
              <a:t> https </a:t>
            </a:r>
            <a:r>
              <a:rPr lang="en-US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 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521BBC30-6D33-DC07-6100-9BF78277DBE5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F9C573-EEC6-4917-752F-824DD375B1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B97281-AA24-B4F5-09CE-5EB00FD742AA}"/>
              </a:ext>
            </a:extLst>
          </p:cNvPr>
          <p:cNvSpPr txBox="1"/>
          <p:nvPr/>
        </p:nvSpPr>
        <p:spPr>
          <a:xfrm>
            <a:off x="571500" y="1210702"/>
            <a:ext cx="11049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cd /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mnt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/c/Users/SANGGYU/Downloads</a:t>
            </a:r>
          </a:p>
          <a:p>
            <a:endParaRPr lang="en-US" altLang="ko-KR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# (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선택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 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어떤 파일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라인에 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http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있는지 먼저 확인</a:t>
            </a:r>
          </a:p>
          <a:p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grep -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nH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'http://esgf-node\.ornl\.gov/thredds/fileServer' *.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sh</a:t>
            </a:r>
            <a:endParaRPr lang="en-US" altLang="ko-KR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endParaRPr lang="en-US" altLang="ko-KR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# 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파일별로 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bak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백업을 만들고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해당 경로만 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https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로 치환</a:t>
            </a:r>
          </a:p>
          <a:p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sed -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i.bak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'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s|http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://esgf-node\.ornl\.gov/thredds/fileServer|https://esgf-node.ornl.gov/thredds/fileServer|g' *.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sh</a:t>
            </a:r>
            <a:endParaRPr lang="en-US" altLang="ko-KR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endParaRPr lang="en-US" altLang="ko-KR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# 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치환 결과 확인 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더 이상 나오면 안 됨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  <a:p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grep -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nH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'http://esgf-node\.ornl\.gov/thredds/fileServer' *.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sh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|| echo "OK (no http 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fileServer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left)"</a:t>
            </a:r>
            <a:endParaRPr lang="ko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98980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4BC88F51-58B6-AD8F-328C-89B70660E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3B0CC84E-E340-E00E-F367-61901258C337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387C8725-F477-0EA8-BC22-7B3135B39310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150" b="1" dirty="0" err="1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표층장</a:t>
            </a:r>
            <a:r>
              <a:rPr lang="ko-KR" alt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en-US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자료 생산 </a:t>
            </a:r>
            <a:r>
              <a:rPr lang="en-US" altLang="ko-KR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(</a:t>
            </a:r>
            <a:r>
              <a:rPr lang="en-US" altLang="ko-KR" sz="3150" b="1" i="0" u="none" strike="noStrike" cap="none" dirty="0" err="1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tos</a:t>
            </a:r>
            <a:r>
              <a:rPr lang="en-US" altLang="ko-KR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/</a:t>
            </a:r>
            <a:r>
              <a:rPr lang="en-US" altLang="ko-KR" sz="3150" b="1" i="0" u="none" strike="noStrike" cap="none" dirty="0" err="1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sos</a:t>
            </a:r>
            <a:r>
              <a:rPr lang="en-US" altLang="ko-KR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/</a:t>
            </a:r>
            <a:r>
              <a:rPr lang="en-US" altLang="ko-KR" sz="3150" b="1" i="0" u="none" strike="noStrike" cap="none" dirty="0" err="1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uos</a:t>
            </a:r>
            <a:r>
              <a:rPr lang="en-US" altLang="ko-KR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/</a:t>
            </a:r>
            <a:r>
              <a:rPr lang="en-US" altLang="ko-KR" sz="3150" b="1" i="0" u="none" strike="noStrike" cap="none" dirty="0" err="1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vos</a:t>
            </a:r>
            <a:r>
              <a:rPr lang="en-US" altLang="ko-KR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)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AF4F8456-2A67-7E4A-75AC-D2272C59FC0C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9E597-EB38-982B-C8A8-24DCB039AB1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6634C5-78F0-3A80-923B-2CB2763E8FF2}"/>
              </a:ext>
            </a:extLst>
          </p:cNvPr>
          <p:cNvSpPr txBox="1"/>
          <p:nvPr/>
        </p:nvSpPr>
        <p:spPr>
          <a:xfrm>
            <a:off x="571500" y="1210702"/>
            <a:ext cx="110490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make_surface_fields_cmip6.sh </a:t>
            </a:r>
            <a:b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표층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level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선택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파일명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lang="ko-KR" altLang="en-US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변수명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변경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(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thetao→tos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/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uo→uos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/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vo→vos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make_surface_fields_godas.py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표층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level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선택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&amp;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수직 차원 제거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파일명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lang="ko-KR" altLang="en-US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변수명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변경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pottmp→tos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/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salt→sos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/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ucur→uos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/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vcur→vos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salt[kg/kg] → x1000 →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[g/kg]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적용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make_surface_fields_oras5.sh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표층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level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선택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merge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time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수직 차원 제거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파일명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lang="ko-KR" altLang="en-US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변수명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변경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vozocrtx→uos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/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vomecrty→vos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33583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0A95CC74-0609-393F-A7EA-9E56010CA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D98783BB-0595-0E0B-6181-6858D47834C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1B8D933D-8363-3ED5-177A-D5036C923254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ohc300</a:t>
            </a:r>
            <a:r>
              <a:rPr lang="en-US" altLang="ko-KR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 </a:t>
            </a:r>
            <a:r>
              <a:rPr lang="ko-KR" altLang="en-US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자료 생산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5EFCDB68-3F23-7029-E5C4-316B22FA516E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D90EAC-08E8-A137-5F9C-84CA8A9159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8FF2D0-3A9A-11BC-044C-17FD79F4C735}"/>
              </a:ext>
            </a:extLst>
          </p:cNvPr>
          <p:cNvSpPr txBox="1"/>
          <p:nvPr/>
        </p:nvSpPr>
        <p:spPr>
          <a:xfrm>
            <a:off x="571500" y="1210702"/>
            <a:ext cx="110490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make_ohc300_cmip6.py \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inroot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/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 \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--outroot /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 \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zmax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300 \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--rho0 1025 --cp0 3992 \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--to-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degC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\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--time-chunk 12 \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섭씨로 변환해서 적분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/>
              <a:t>python make_ohc300_godas.py --to-</a:t>
            </a:r>
            <a:r>
              <a:rPr lang="en-US" altLang="ko-KR" sz="1200" dirty="0" err="1"/>
              <a:t>degC</a:t>
            </a:r>
            <a:r>
              <a:rPr lang="en-US" altLang="ko-KR" sz="1200" dirty="0"/>
              <a:t> --overwrite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섭씨로 변환해서 적분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18443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39D1D5A0-4C3C-3D32-5BFE-2E9FFF529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0393D36E-7766-1D1E-25FA-A85A698D2BE1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95C041BB-8AF8-B70A-FA0A-C8A8EAB93D94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[ETC]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91516BAB-C2F9-89F6-6D06-F265FF1263BB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3EC2C0-06CB-A1DD-54C9-5E6E23EE6E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DFA9B8-C900-B856-EA58-F1AD32E04B87}"/>
              </a:ext>
            </a:extLst>
          </p:cNvPr>
          <p:cNvSpPr txBox="1"/>
          <p:nvPr/>
        </p:nvSpPr>
        <p:spPr>
          <a:xfrm>
            <a:off x="571500" y="1471910"/>
            <a:ext cx="2733675" cy="538609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1) ACCESS-CM2 r1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/home/sanggyu1008/project/01_ENSO/01_data/01_raw/cmip6/ssp370/ACCESS-CM2/r1i1p1f1/monthly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4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/d/project/01_ENSO/01_data/01_raw/cmip6/ssp370/ACCESS-CM2/r1i1p1f1/monthly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4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2) ACCESS-ESM1-5 r1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/home/sanggyu1008/project/01_ENSO/01_data/01_raw/cmip6/ssp370/ACCESS-ESM1-5/r1i1p1f1/monthly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4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/d/project/01_ENSO/01_data/01_raw/cmip6/ssp370/ACCESS-ESM1-5/r1i1p1f1/monthly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4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3) ACCESS-ESM1-5 r2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/home/sanggyu1008/project/01_ENSO/01_data/01_raw/cmip6/ssp370/ACCESS-ESM1-5/r2i1p1f1/monthly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4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/d/project/01_ENSO/01_data/01_raw/cmip6/ssp370/ACCESS-ESM1-5/r2i1p1f1/monthly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4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4) ACCESS-ESM1-5 r3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/home/sanggyu1008/project/01_ENSO/01_data/01_raw/cmip6/ssp370/ACCESS-ESM1-5/r3i1p1f1/monthly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4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/d/project/01_ENSO/01_data/01_raw/cmip6/ssp370/ACCESS-ESM1-5/r3i1p1f1/monthly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4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5) CMCC-ESM2 r1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/home/sanggyu1008/project/01_ENSO/01_data/01_raw/cmip6/ssp370/CMCC-ESM2/r1i1p1f1/monthly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4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/d/project/01_ENSO/01_data/01_raw/cmip6/ssp370/CMCC-ESM2/r1i1p1f1/monthly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4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6) CanESM5 r1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/home/sanggyu1008/project/01_ENSO/01_data/01_raw/cmip6/ssp370/CanESM5/r1i1p1f1/monthly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4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/d/project/01_ENSO/01_data/01_raw/cmip6/ssp370/CanESM5/r1i1p1f1/monthly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4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7) CanESM5 r2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/home/sanggyu1008/project/01_ENSO/01_data/01_raw/cmip6/ssp370/CanESM5/r2i1p1f1/monthly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4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/d/project/01_ENSO/01_data/01_raw/cmip6/ssp370/CanESM5/r2i1p1f1/monthly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4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8) CanESM5 r3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/home/sanggyu1008/project/01_ENSO/01_data/01_raw/cmip6/ssp370/CanESM5/r3i1p1f1/monthly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4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/d/project/01_ENSO/01_data/01_raw/cmip6/ssp370/CanESM5/r3i1p1f1/monthly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4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9) EC-Earth3 r1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/home/sanggyu1008/project/01_ENSO/01_data/01_raw/cmip6/ssp370/EC-Earth3/r1i1p1f1/monthly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4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/d/project/01_ENSO/01_data/01_raw/cmip6/ssp370/EC-Earth3/r1i1p1f1/monthly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4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10) IPSL-CM5A2-INCA r1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/home/sanggyu1008/project/01_ENSO/01_data/01_raw/cmip6/ssp370/IPSL-CM5A2-INCA/r1i1p1f1/monthly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4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/d/project/01_ENSO/01_data/01_raw/cmip6/ssp370/IPSL-CM5A2-INCA/r1i1p1f1/monthly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4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11) IPSL-CM6A-LR r1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/home/sanggyu1008/project/01_ENSO/01_data/01_raw/cmip6/ssp370/IPSL-CM6A-LR/r1i1p1f1/monthly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4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/d/project/01_ENSO/01_data/01_raw/cmip6/ssp370/IPSL-CM6A-LR/r1i1p1f1/monthly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4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12) IPSL-CM6A-LR r2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/home/sanggyu1008/project/01_ENSO/01_data/01_raw/cmip6/ssp370/IPSL-CM6A-LR/r2i1p1f1/monthly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4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/d/project/01_ENSO/01_data/01_raw/cmip6/ssp370/IPSL-CM6A-LR/r2i1p1f1/monthly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4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13) IPSL-CM6A-LR r3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/home/sanggyu1008/project/01_ENSO/01_data/01_raw/cmip6/ssp370/IPSL-CM6A-LR/r3i1p1f1/monthly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4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/d/project/01_ENSO/01_data/01_raw/cmip6/ssp370/IPSL-CM6A-LR/r3i1p1f1/monthly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4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14) MIROC6 r1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/home/sanggyu1008/project/01_ENSO/01_data/01_raw/cmip6/ssp370/MIROC6/r1i1p1f1/monthly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4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/d/project/01_ENSO/01_data/01_raw/cmip6/ssp370/MIROC6/r1i1p1f1/monthly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4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15) MRI-ESM2-0 r1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/home/sanggyu1008/project/01_ENSO/01_data/01_raw/cmip6/ssp370/MRI-ESM2-0/r1i1p1f1/monthly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4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/d/project/01_ENSO/01_data/01_raw/cmip6/ssp370/MRI-ESM2-0/r1i1p1f1/monthly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4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16) MRI-ESM2-0 r2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/home/sanggyu1008/project/01_ENSO/01_data/01_raw/cmip6/ssp370/MRI-ESM2-0/r2i1p1f1/monthly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4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/d/project/01_ENSO/01_data/01_raw/cmip6/ssp370/MRI-ESM2-0/r2i1p1f1/monthly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4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17) MRI-ESM2-0 r3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/home/sanggyu1008/project/01_ENSO/01_data/01_raw/cmip6/ssp370/MRI-ESM2-0/r3i1p1f1/monthly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4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/d/project/01_ENSO/01_data/01_raw/cmip6/ssp370/MRI-ESM2-0/r3i1p1f1/monthly</a:t>
            </a: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4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bye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AF8F6F1-B265-0FA2-0343-594ADB99EE99}"/>
              </a:ext>
            </a:extLst>
          </p:cNvPr>
          <p:cNvSpPr txBox="1"/>
          <p:nvPr/>
        </p:nvSpPr>
        <p:spPr>
          <a:xfrm>
            <a:off x="571500" y="1210702"/>
            <a:ext cx="2733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CMIP6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thetao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데이터 서버로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sftp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20079D-0E90-3D07-4DC2-9143E1C3FBB8}"/>
              </a:ext>
            </a:extLst>
          </p:cNvPr>
          <p:cNvSpPr txBox="1"/>
          <p:nvPr/>
        </p:nvSpPr>
        <p:spPr>
          <a:xfrm>
            <a:off x="3305175" y="1210702"/>
            <a:ext cx="2733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파일 내부 </a:t>
            </a:r>
            <a:r>
              <a:rPr lang="ko-KR" altLang="en-US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변수명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변경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8C037-3ABC-08EB-73E5-AF33142C7A25}"/>
              </a:ext>
            </a:extLst>
          </p:cNvPr>
          <p:cNvSpPr txBox="1"/>
          <p:nvPr/>
        </p:nvSpPr>
        <p:spPr>
          <a:xfrm>
            <a:off x="3305174" y="1471910"/>
            <a:ext cx="3057526" cy="24622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US" altLang="ko-KR" sz="10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cdo</a:t>
            </a:r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altLang="ko-KR" sz="10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chname</a:t>
            </a:r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</a:t>
            </a:r>
            <a:r>
              <a:rPr lang="ko-KR" altLang="en-US" sz="1000" i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기존변수</a:t>
            </a:r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</a:t>
            </a:r>
            <a:r>
              <a:rPr lang="ko-KR" altLang="en-US" sz="1000" i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변경변수 기존파일명</a:t>
            </a:r>
            <a:r>
              <a:rPr lang="en-US" altLang="ko-KR" sz="1000" i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</a:t>
            </a:r>
            <a:r>
              <a:rPr lang="ko-KR" altLang="en-US" sz="1000" i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변경파일명</a:t>
            </a:r>
            <a:endParaRPr lang="en-US" altLang="ko-KR" sz="1000" i="1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8290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D866474F-303B-07AF-D9D3-4CC788214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DB826A38-0828-971E-BC7B-D9EF051F0CC0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0B9C0FA8-A072-9A83-9FFC-2609B27C333E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Anomaly </a:t>
            </a:r>
            <a:r>
              <a:rPr lang="ko-KR" alt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계산 </a:t>
            </a:r>
            <a:r>
              <a:rPr lang="en-US" altLang="ko-KR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+ </a:t>
            </a:r>
            <a:r>
              <a:rPr lang="ko-KR" alt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재격자화</a:t>
            </a:r>
            <a:r>
              <a:rPr lang="en-US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 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D13CC0F4-12F4-FFA1-A20D-FE974EF5482B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0FEB2F-9829-7771-A1AA-B1474430C3B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72CFBB-4C45-9585-A72D-DF229F71DD26}"/>
              </a:ext>
            </a:extLst>
          </p:cNvPr>
          <p:cNvSpPr txBox="1"/>
          <p:nvPr/>
        </p:nvSpPr>
        <p:spPr>
          <a:xfrm>
            <a:off x="571500" y="1210702"/>
            <a:ext cx="1104900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장기 추세 제거 </a:t>
            </a:r>
            <a:endParaRPr lang="en-US" altLang="ko-KR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월별 </a:t>
            </a:r>
            <a:r>
              <a:rPr lang="en-US" altLang="ko-KR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Climatology </a:t>
            </a:r>
            <a:r>
              <a:rPr lang="ko-KR" altLang="en-US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제거</a:t>
            </a:r>
            <a:endParaRPr lang="en-US" altLang="ko-KR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재격자화 </a:t>
            </a:r>
            <a:endParaRPr lang="en-US" altLang="ko-KR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./make_anom_cmip6_monthly.sh</a:t>
            </a:r>
          </a:p>
          <a:p>
            <a:endParaRPr lang="en-US" altLang="ko-KR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./make_anom_era5_monthly.sh</a:t>
            </a:r>
          </a:p>
          <a:p>
            <a:endParaRPr lang="en-US" altLang="ko-KR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make_anom_godas.py</a:t>
            </a:r>
          </a:p>
          <a:p>
            <a:endParaRPr lang="en-US" altLang="ko-KR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./make_anom_oras5.sh</a:t>
            </a:r>
            <a:endParaRPr lang="ko-KR" altLang="en-US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ko-KR" altLang="en-US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00586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8BDB9A46-DC7C-75D8-E6B1-9FBE7D4AD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EA75159A-00DD-448E-1442-C8A0284A789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CA0E371E-63EE-B58C-9BFC-9772B628E51F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QC</a:t>
            </a:r>
            <a:r>
              <a:rPr lang="en-US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 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26FD35FE-C75E-7168-C095-F81448DC485A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B31954-0B36-A73F-A68B-ECA9A0D09A3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D2ADA3-8C9A-7979-2ACE-9E854896A2FA}"/>
              </a:ext>
            </a:extLst>
          </p:cNvPr>
          <p:cNvSpPr txBox="1"/>
          <p:nvPr/>
        </p:nvSpPr>
        <p:spPr>
          <a:xfrm>
            <a:off x="571500" y="1210702"/>
            <a:ext cx="11049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python qc_cmip6.py /</a:t>
            </a:r>
            <a:r>
              <a:rPr lang="en-US" altLang="ko-KR" sz="1200" dirty="0" err="1"/>
              <a:t>mnt</a:t>
            </a:r>
            <a:r>
              <a:rPr lang="en-US" altLang="ko-KR" sz="1200" dirty="0"/>
              <a:t>/d/project/01_ENSO/01_data/01_raw/cmip6/ssp370</a:t>
            </a:r>
          </a:p>
          <a:p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：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qc_godas.py /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godas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07531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8A331AF0-9370-1D85-C1D7-FB9790D24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741C7702-7A60-3E7A-B047-2C624B2BD89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2072E083-9083-1369-7585-F50FBD858BA0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Sample 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C9757FD2-DBC7-0D50-7A45-7F8815D33C82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AFBA6A-E229-1EC7-E7CF-665278364BD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7E4728-3518-DA77-FE16-93D7B7552CB0}"/>
              </a:ext>
            </a:extLst>
          </p:cNvPr>
          <p:cNvSpPr txBox="1"/>
          <p:nvPr/>
        </p:nvSpPr>
        <p:spPr>
          <a:xfrm>
            <a:off x="571500" y="1210702"/>
            <a:ext cx="11049000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변수 병합</a:t>
            </a:r>
            <a:endParaRPr lang="en-US" altLang="ko-KR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en-US" altLang="ko-KR" sz="1000" dirty="0"/>
              <a:t>python merge_vars.py   --</a:t>
            </a:r>
            <a:r>
              <a:rPr lang="en-US" altLang="ko-KR" sz="1000" dirty="0" err="1"/>
              <a:t>inroot</a:t>
            </a:r>
            <a:r>
              <a:rPr lang="en-US" altLang="ko-KR" sz="1000" dirty="0"/>
              <a:t>  /</a:t>
            </a:r>
            <a:r>
              <a:rPr lang="en-US" altLang="ko-KR" sz="1000" dirty="0" err="1"/>
              <a:t>mnt</a:t>
            </a:r>
            <a:r>
              <a:rPr lang="en-US" altLang="ko-KR" sz="1000" dirty="0"/>
              <a:t>/d/project/01_ENSO/01_data/02_interim   --outroot /</a:t>
            </a:r>
            <a:r>
              <a:rPr lang="en-US" altLang="ko-KR" sz="1000" dirty="0" err="1"/>
              <a:t>mnt</a:t>
            </a:r>
            <a:r>
              <a:rPr lang="en-US" altLang="ko-KR" sz="1000" dirty="0"/>
              <a:t>/d/project/01_ENSO/01_data/03_input   --mode all   --</a:t>
            </a:r>
            <a:r>
              <a:rPr lang="en-US" altLang="ko-KR" sz="1000" dirty="0" err="1"/>
              <a:t>fillna</a:t>
            </a:r>
            <a:r>
              <a:rPr lang="en-US" altLang="ko-KR" sz="1000" dirty="0"/>
              <a:t> none</a:t>
            </a:r>
          </a:p>
          <a:p>
            <a:endParaRPr lang="en-US" altLang="ko-KR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0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검증</a:t>
            </a:r>
            <a:endParaRPr lang="en-US" altLang="ko-KR" sz="10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en-US" altLang="ko-KR" sz="10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ncdump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-h /mnt/d/project/01_ENSO/01_data/03_input/cmip6/ssp370/ACCESS-CM2/r1i1p1f1/monthly/input_ACCESS-CM2_ssp370_r1i1p1f1.anom_1x2.nc | head -n 50</a:t>
            </a:r>
          </a:p>
          <a:p>
            <a:r>
              <a:rPr lang="en-US" altLang="ko-KR" sz="10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cdo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0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showname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/mnt/d/project/01_ENSO/01_data/03_input/cmip6/ssp370/ACCESS-CM2/r1i1p1f1/monthly/input_ACCESS-CM2_ssp370_r1i1p1f1.anom_1x2.nc</a:t>
            </a:r>
          </a:p>
          <a:p>
            <a:r>
              <a:rPr lang="en-US" altLang="ko-KR" sz="10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cdo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0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showtimestamp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/mnt/d/project/01_ENSO/01_data/03_input/cmip6/ssp370/ACCESS-CM2/r1i1p1f1/monthly/input_ACCESS-CM2_ssp370_r1i1p1f1.anom_1x2.nc</a:t>
            </a:r>
          </a:p>
          <a:p>
            <a:endParaRPr lang="en-US" altLang="ko-KR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endParaRPr lang="en-US" altLang="ko-KR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0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시간 자르기</a:t>
            </a:r>
            <a:endParaRPr lang="en-US" altLang="ko-KR" sz="10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en-US" altLang="ko-KR" sz="10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mkdir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-p /</a:t>
            </a:r>
            <a:r>
              <a:rPr lang="en-US" altLang="ko-KR" sz="10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mnt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/d/project/01_ENSO/01_data/03_input/reanalysis</a:t>
            </a:r>
            <a:b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</a:br>
            <a:b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</a:br>
            <a:r>
              <a:rPr lang="en-US" altLang="ko-KR" sz="10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cdo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-L -O seldate,1958-01-01,1978-12-31 \</a:t>
            </a:r>
            <a:b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</a:b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/mnt/d/project/01_ENSO/01_data/03_input/reanalysis/oras5_era5_input.anom_1x2.nc \</a:t>
            </a:r>
            <a:b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</a:b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/mnt/d/project/01_ENSO/01_data/03_input/reanalysis/validation_dataset.nc</a:t>
            </a:r>
            <a:b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</a:br>
            <a:b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</a:br>
            <a:r>
              <a:rPr lang="en-US" altLang="ko-KR" sz="10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cdo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-L -O seldate,1980-01-01,2025-12-31 \</a:t>
            </a:r>
            <a:b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</a:b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/mnt/d/project/01_ENSO/01_data/03_input/reanalysis/godas_era5_input.anom_1x2.nc \</a:t>
            </a:r>
            <a:b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</a:b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/mnt/d/project/01_ENSO/01_data/03_input/reanalysis/test_dataset.nc</a:t>
            </a:r>
          </a:p>
          <a:p>
            <a:endParaRPr lang="en-US" altLang="ko-KR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endParaRPr lang="en-US" altLang="ko-KR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0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검증</a:t>
            </a:r>
            <a:endParaRPr lang="en-US" altLang="ko-KR" sz="10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en-US" altLang="ko-KR" sz="10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cdo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0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ntime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/mnt/d/project/01_ENSO/01_data/03_input/reanalysis/test_dataset.nc</a:t>
            </a:r>
          </a:p>
          <a:p>
            <a:r>
              <a:rPr lang="en-US" altLang="ko-KR" sz="10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cdo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0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showtimestamp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/mnt/d/project/01_ENSO/01_data/03_input/reanalysis/test_dataset.nc | head</a:t>
            </a:r>
          </a:p>
          <a:p>
            <a:r>
              <a:rPr lang="en-US" altLang="ko-KR" sz="10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cdo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0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showtimestamp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/mnt/d/project/01_ENSO/01_data/03_input/reanalysis/test_dataset.nc | tail</a:t>
            </a:r>
            <a:endParaRPr lang="ko-KR" alt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7303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AF38A0C1-5D23-CCE3-D3BD-966878B92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37497912-F838-80F3-9AF5-AA021DF1894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124A25BC-E09A-A61E-123B-B86A899A9BD8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Sample 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8375F078-3F87-BC3F-62DD-FEBE0C8EF289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C9025B-43DE-51DE-3593-A531066CA09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036F74-AF38-7A15-2D48-2893FA2AADD3}"/>
              </a:ext>
            </a:extLst>
          </p:cNvPr>
          <p:cNvSpPr txBox="1"/>
          <p:nvPr/>
        </p:nvSpPr>
        <p:spPr>
          <a:xfrm>
            <a:off x="571500" y="1210702"/>
            <a:ext cx="11049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ㅇㅇ</a:t>
            </a:r>
            <a:endParaRPr lang="ko-KR" altLang="en-US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38224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28303</TotalTime>
  <Words>2540</Words>
  <Application>Microsoft Office PowerPoint</Application>
  <PresentationFormat>와이드스크린</PresentationFormat>
  <Paragraphs>465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Pretendard</vt:lpstr>
      <vt:lpstr>Pretendard ExtraBold</vt:lpstr>
      <vt:lpstr>Pretendard Light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SANGGYU</dc:creator>
  <cp:lastModifiedBy>전상규</cp:lastModifiedBy>
  <cp:revision>135</cp:revision>
  <dcterms:modified xsi:type="dcterms:W3CDTF">2026-03-13T08:27:12Z</dcterms:modified>
</cp:coreProperties>
</file>